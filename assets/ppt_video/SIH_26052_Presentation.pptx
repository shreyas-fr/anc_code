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SMART INDIA HACKATHON 2026</a:t>
            </a:r>
          </a:p>
          <a:p>
            <a:pPr>
              <a:defRPr sz="2400"/>
            </a:pPr>
            <a:r>
              <a:t>Problem Statement ID: 26052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AI/ML-Enabled Adaptive Noise Cancellation for Defence Communication</a:t>
            </a:r>
          </a:p>
          <a:p/>
          <a:p>
            <a:r>
              <a:t>Theme: Miscellaneous</a:t>
            </a:r>
          </a:p>
          <a:p>
            <a:r>
              <a:t>PS Category: Hardware</a:t>
            </a:r>
          </a:p>
          <a:p/>
          <a:p>
            <a:r>
              <a:t>Team ID: [YOUR TEAM ID]</a:t>
            </a:r>
          </a:p>
          <a:p>
            <a:r>
              <a:t>Team Name: [YOUR TEAM NAME]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54864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Noisy Env.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34640" y="5669280"/>
            <a:ext cx="73152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0" y="5486400"/>
            <a:ext cx="1371600" cy="731520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Processor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20640" y="5669280"/>
            <a:ext cx="731520" cy="36576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0" y="548640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Clear Speech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AI-Powered Adaptive Noise Suppression for Defence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Proposed Solution: A causal, stateful deep-learning speech enhancement system that suppresses stationary, non-stationary and impulsive noise while preserving speech information for low-latency defence communication.</a:t>
            </a:r>
          </a:p>
          <a:p>
            <a:br/>
            <a:pPr>
              <a:defRPr b="1" sz="1600"/>
            </a:pPr>
            <a:r>
              <a:t>Key Innovation:</a:t>
            </a:r>
          </a:p>
          <a:p>
            <a:pPr>
              <a:defRPr sz="1400"/>
            </a:pPr>
            <a:r>
              <a:t>• Stateful Polar-LSTM maintains temporal context across audio frames.</a:t>
            </a:r>
          </a:p>
          <a:p>
            <a:pPr>
              <a:defRPr sz="1400"/>
            </a:pPr>
            <a:r>
              <a:t>• Predicts magnitude + phase corrections instead of magnitude alone.</a:t>
            </a:r>
          </a:p>
          <a:p>
            <a:pPr>
              <a:defRPr sz="1400"/>
            </a:pPr>
            <a:r>
              <a:t>• Causal processing enables real-time streaming without future audio.</a:t>
            </a:r>
          </a:p>
          <a:p>
            <a:pPr>
              <a:defRPr sz="1400"/>
            </a:pPr>
            <a:r>
              <a:t>• Compact ~1.45M-parameter model for edge deployment.</a:t>
            </a:r>
          </a:p>
          <a:p>
            <a:br/>
            <a:pPr>
              <a:defRPr b="1" sz="1600"/>
            </a:pPr>
            <a:r>
              <a:t>Userflow Diagram: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" y="5029200"/>
            <a:ext cx="1188720" cy="73152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Noisy Speech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280160" y="5303520"/>
            <a:ext cx="18288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5029200"/>
            <a:ext cx="1188720" cy="73152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Causal STFT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51760" y="5303520"/>
            <a:ext cx="18288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5029200"/>
            <a:ext cx="1188720" cy="73152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Polar-LSTM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60" y="5303520"/>
            <a:ext cx="18288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5029200"/>
            <a:ext cx="1188720" cy="73152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Spectral Mask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394960" y="5303520"/>
            <a:ext cx="18288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5029200"/>
            <a:ext cx="1188720" cy="73152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Causal iSTFT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66560" y="5303520"/>
            <a:ext cx="18288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0" y="5029200"/>
            <a:ext cx="1188720" cy="731520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Enhanced Speech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Architecture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/>
            </a:pPr>
            <a:r>
              <a:t>Signal Processing:</a:t>
            </a:r>
          </a:p>
          <a:p>
            <a:r>
              <a:t>• 16 kHz mono, 16 ms frames</a:t>
            </a:r>
          </a:p>
          <a:p>
            <a:r>
              <a:t>• 512 FFT size, 256 hop size (257 bins)</a:t>
            </a:r>
          </a:p>
          <a:p>
            <a:r>
              <a:t>• Causal STFT / iSTFT</a:t>
            </a:r>
          </a:p>
          <a:p>
            <a:br/>
            <a:pPr>
              <a:defRPr b="1"/>
            </a:pPr>
            <a:r>
              <a:t>AI Model (Stateful Polar-LSTM):</a:t>
            </a:r>
          </a:p>
          <a:p>
            <a:r>
              <a:t>• Explicit recurrent hidden + cell states</a:t>
            </a:r>
          </a:p>
          <a:p>
            <a:r>
              <a:t>• Input: 514 features (Real + Imag)</a:t>
            </a:r>
          </a:p>
          <a:p>
            <a:r>
              <a:t>• Output: Mag mask [0, 2], Phase [-π, π]</a:t>
            </a:r>
          </a:p>
          <a:p>
            <a:r>
              <a:t>• 1,448,962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9144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Training / Evaluation Data:</a:t>
            </a:r>
          </a:p>
          <a:p>
            <a:r>
              <a:t>• LibriSpeech, MUSAN, ESC-50, UrbanSound8K</a:t>
            </a:r>
          </a:p>
          <a:p>
            <a:r>
              <a:t>• IoBT Gunfire Audio Dataset (Defence Domain)</a:t>
            </a:r>
          </a:p>
          <a:p>
            <a:br/>
            <a:pPr>
              <a:defRPr b="1"/>
            </a:pPr>
            <a:r>
              <a:t>Implementation Pipeline:</a:t>
            </a:r>
          </a:p>
          <a:p>
            <a:r>
              <a:t>• Python + PyTorch -&gt; Raspberry Pi 5 -&gt; Edge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Technical Architecture Flow: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" y="4114800"/>
            <a:ext cx="1097280" cy="91440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Mic / Audio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188720" y="4480560"/>
            <a:ext cx="13716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25880" y="4114800"/>
            <a:ext cx="1097280" cy="91440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16 kHz Stream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4480560"/>
            <a:ext cx="13716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4114800"/>
            <a:ext cx="1097280" cy="91440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Causal STFT</a:t>
            </a:r>
          </a:p>
          <a:p>
            <a:r>
              <a:t>(257 bins)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657600" y="4480560"/>
            <a:ext cx="13716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94760" y="4114800"/>
            <a:ext cx="1097280" cy="914400"/>
          </a:xfrm>
          <a:prstGeom prst="roundRect">
            <a:avLst/>
          </a:prstGeom>
          <a:solidFill>
            <a:srgbClr val="99C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Polar-LSTM</a:t>
            </a:r>
          </a:p>
          <a:p>
            <a:r>
              <a:t>(Stateful)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92040" y="4480560"/>
            <a:ext cx="13716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4114800"/>
            <a:ext cx="1097280" cy="91440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Mag + Phase</a:t>
            </a:r>
          </a:p>
          <a:p>
            <a:r>
              <a:t>Mask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26480" y="4480560"/>
            <a:ext cx="13716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4114800"/>
            <a:ext cx="1097280" cy="91440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Causal iSTFT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360920" y="4480560"/>
            <a:ext cx="137160" cy="1828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80" y="4114800"/>
            <a:ext cx="1097280" cy="914400"/>
          </a:xfrm>
          <a:prstGeom prst="round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Enhanced</a:t>
            </a:r>
          </a:p>
          <a:p>
            <a:r>
              <a:t>Audio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Edge Feasibility + Experimental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b="1"/>
            </a:pPr>
            <a:r>
              <a:t>Raspberry Pi 5 Edge Benchmark (3,600 frames):</a:t>
            </a:r>
          </a:p>
          <a:p>
            <a:r>
              <a:t>• Deadline misses: 0</a:t>
            </a:r>
          </a:p>
          <a:p>
            <a:r>
              <a:t>• p95 processing time: 5.7 ms (Limit: 16 ms)</a:t>
            </a:r>
          </a:p>
          <a:p>
            <a:r>
              <a:t>• Max processing time: 11.7 ms</a:t>
            </a:r>
          </a:p>
          <a:p>
            <a:r>
              <a:t>• Peak temperature: 49.4C | RAM usage: ~258 MB | Throttling: None</a:t>
            </a:r>
          </a:p>
          <a:p>
            <a:br/>
            <a:pPr>
              <a:defRPr b="1"/>
            </a:pPr>
            <a:r>
              <a:t>Canonical Model Validation (590 mixtures):</a:t>
            </a:r>
          </a:p>
          <a:p>
            <a:r>
              <a:t>• SI-SDR Improvement: +0.335 dB (p = 3.49 x 10^-28)</a:t>
            </a:r>
          </a:p>
          <a:p>
            <a:r>
              <a:t>• SNR Improvement: +0.129 dB (p = 0.00441)</a:t>
            </a:r>
          </a:p>
          <a:p>
            <a:r>
              <a:t>• Statistically significant changes also observed in STOI and PESQ</a:t>
            </a:r>
          </a:p>
          <a:p>
            <a:br/>
            <a:pPr>
              <a:defRPr b="1"/>
            </a:pPr>
            <a:r>
              <a:t>Challenges -&gt; Mitigation:</a:t>
            </a:r>
          </a:p>
          <a:p>
            <a:r>
              <a:t>• Non-stationary noise -&gt; Stateful temporal modeling</a:t>
            </a:r>
          </a:p>
          <a:p>
            <a:r>
              <a:t>• Impulsive/gunfire noise -&gt; Defence-domain training data</a:t>
            </a:r>
          </a:p>
          <a:p>
            <a:r>
              <a:t>• Phase distortion -&gt; Polar complex masking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4572000"/>
            <a:ext cx="4114800" cy="1371600"/>
          </a:xfrm>
          <a:prstGeom prst="rect">
            <a:avLst/>
          </a:prstGeom>
          <a:solidFill>
            <a:srgbClr val="C8DC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PROTOTYPE STATUS:</a:t>
            </a:r>
          </a:p>
          <a:p>
            <a:r>
              <a:t>AI model + Raspberry Pi edge pipeline validated.</a:t>
            </a:r>
          </a:p>
          <a:p>
            <a:r>
              <a:t>Physical microphone/acoustic-loop validation is the next prototype stage.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Impact on Defence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Primary Target Applications:</a:t>
            </a:r>
          </a:p>
          <a:p>
            <a:r>
              <a:t>• Tactical Communication: Clearer voice in high-noise operational environments.</a:t>
            </a:r>
          </a:p>
          <a:p>
            <a:r>
              <a:t>• Aviation / Helicopter Crews: Speech enhancement under continuous engine noise.</a:t>
            </a:r>
          </a:p>
          <a:p>
            <a:r>
              <a:t>• Armoured &amp; Military Vehicles: Suppression of engine and impulsive noise.</a:t>
            </a:r>
          </a:p>
          <a:p>
            <a:r>
              <a:t>• Field Communication Systems: Low-latency processing directly at the edge.</a:t>
            </a:r>
          </a:p>
          <a:p>
            <a:br/>
            <a:pPr>
              <a:defRPr b="1"/>
            </a:pPr>
            <a:r>
              <a:t>Key Benefits:</a:t>
            </a:r>
          </a:p>
          <a:p>
            <a:r>
              <a:t>1. Improved Speech Intelligibility without cloud dependency.</a:t>
            </a:r>
          </a:p>
          <a:p>
            <a:r>
              <a:t>2. Low-Latency Edge Processing for real-time operation.</a:t>
            </a:r>
          </a:p>
          <a:p>
            <a:r>
              <a:t>3. Adaptive Noise Handling tracking temporal changes.</a:t>
            </a:r>
          </a:p>
          <a:p>
            <a:r>
              <a:t>4. Defence-Domain Robustness using gunfire data.</a:t>
            </a:r>
          </a:p>
          <a:p>
            <a:r>
              <a:t>5. Local &amp; Portable execution on compact computing hardware.</a:t>
            </a:r>
          </a:p>
          <a:p>
            <a:br/>
            <a:pPr>
              <a:defRPr b="1">
                <a:solidFill>
                  <a:srgbClr val="006633"/>
                </a:solidFill>
              </a:defRPr>
            </a:pPr>
            <a:r>
              <a:t>Potential Extensions: Emergency Response -&gt; Industrial Safety -&gt; Aviation -&gt; Disaster Communication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Research, Datasets &amp; Technical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Datasets Utilized:</a:t>
            </a:r>
          </a:p>
          <a:p>
            <a:r>
              <a:t>• LibriSpeech (clean speech)</a:t>
            </a:r>
          </a:p>
          <a:p>
            <a:r>
              <a:t>• MUSAN, ESC-50, UrbanSound8K (environmental noise)</a:t>
            </a:r>
          </a:p>
          <a:p>
            <a:r>
              <a:t>• IoBT Gunfire Audio Dataset (defence-domain firearm recordings - DOI: 10.5281/zenodo.6836031)</a:t>
            </a:r>
          </a:p>
          <a:p>
            <a:br/>
            <a:pPr>
              <a:defRPr b="1"/>
            </a:pPr>
            <a:r>
              <a:t>Technical Foundations:</a:t>
            </a:r>
          </a:p>
          <a:p>
            <a:r>
              <a:t>• Causal real-time signal processing (STFT / iSTFT)</a:t>
            </a:r>
          </a:p>
          <a:p>
            <a:r>
              <a:t>• Long Short-Term Memory networks (LSTM)</a:t>
            </a:r>
          </a:p>
          <a:p>
            <a:r>
              <a:t>• Complex spectral masking &amp; Objective metrics (SI-SDR, PESQ)</a:t>
            </a:r>
          </a:p>
          <a:p>
            <a:r>
              <a:t>• PyTorch edge inference on Raspberry Pi 5</a:t>
            </a:r>
          </a:p>
          <a:p>
            <a:br/>
            <a:pPr>
              <a:defRPr b="1" sz="1600">
                <a:solidFill>
                  <a:srgbClr val="003366"/>
                </a:solidFill>
              </a:defRPr>
            </a:pPr>
            <a:r>
              <a:t>Core Research Direction:</a:t>
            </a:r>
          </a:p>
          <a:p>
            <a:r>
              <a:t>Deep-learning speech enhancement + complex-domain spectral processing + recurrent temporal modeling + edge inference.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